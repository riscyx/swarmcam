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41732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C3013"/>
                </a:solidFill>
                <a:latin typeface="Inter"/>
              </a:rPr>
              <a:t>SZABADKAI MŰSZAKI SZAKFŐISKOLA · INFORMATIKA SZAK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9692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110F"/>
                </a:solidFill>
                <a:latin typeface="Inter"/>
              </a:rPr>
              <a:t>Újrahasznosított mobiltelefonokon
alapuló biztonsági rendszer
megvalósítása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977639"/>
            <a:ext cx="1828800" cy="27432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2793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B625E"/>
                </a:solidFill>
                <a:latin typeface="Inter"/>
              </a:rPr>
              <a:t>SwarmCam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230368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10F"/>
                </a:solidFill>
                <a:latin typeface="Inter"/>
              </a:rPr>
              <a:t>Vass Richárd · 26223071</a:t>
            </a:r>
          </a:p>
          <a:p>
            <a:pPr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Mentor: dr. Pletl Szilveszter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Szabadka, 2026. szeptember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1. BEVEZETŐ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A probléma és a cél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10F"/>
                </a:solidFill>
                <a:latin typeface="Inter"/>
              </a:rPr>
              <a:t>A probléma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C3013"/>
                </a:solidFill>
                <a:latin typeface="Inter"/>
              </a:rPr>
              <a:t>— </a:t>
            </a:r>
            <a:r>
              <a:rPr sz="1450" b="1">
                <a:solidFill>
                  <a:srgbClr val="16110F"/>
                </a:solidFill>
                <a:latin typeface="Inter"/>
              </a:rPr>
              <a:t>Felhőalapú konzumer kamerák — </a:t>
            </a:r>
            <a:r>
              <a:rPr sz="1450">
                <a:solidFill>
                  <a:srgbClr val="6B625E"/>
                </a:solidFill>
                <a:latin typeface="Inter"/>
              </a:rPr>
              <a:t>előfizetéshez kötöttek, és a felvétel elhagyja a házat: a működés egy külső szolgáltató rendelkezésre állásán múlik.</a:t>
            </a:r>
          </a:p>
          <a:p>
            <a:pPr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50" b="1">
                <a:solidFill>
                  <a:srgbClr val="EC3013"/>
                </a:solidFill>
                <a:latin typeface="Inter"/>
              </a:rPr>
              <a:t>— </a:t>
            </a:r>
            <a:r>
              <a:rPr sz="1450" b="1">
                <a:solidFill>
                  <a:srgbClr val="16110F"/>
                </a:solidFill>
                <a:latin typeface="Inter"/>
              </a:rPr>
              <a:t>Dedikált IP kamera + NVR — </a:t>
            </a:r>
            <a:r>
              <a:rPr sz="1450">
                <a:solidFill>
                  <a:srgbClr val="6B625E"/>
                </a:solidFill>
                <a:latin typeface="Inter"/>
              </a:rPr>
              <a:t>külön hardverköltség, és kameránként kézi konfiguráció a rögzítőben.</a:t>
            </a:r>
          </a:p>
          <a:p>
            <a:pPr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50" b="1">
                <a:solidFill>
                  <a:srgbClr val="EC3013"/>
                </a:solidFill>
                <a:latin typeface="Inter"/>
              </a:rPr>
              <a:t>— </a:t>
            </a:r>
            <a:r>
              <a:rPr sz="1450" b="1">
                <a:solidFill>
                  <a:srgbClr val="16110F"/>
                </a:solidFill>
                <a:latin typeface="Inter"/>
              </a:rPr>
              <a:t>Közben a hardver adott — </a:t>
            </a:r>
            <a:r>
              <a:rPr sz="1450">
                <a:solidFill>
                  <a:srgbClr val="6B625E"/>
                </a:solidFill>
                <a:latin typeface="Inter"/>
              </a:rPr>
              <a:t>a világ éves e-hulladék-termelése az 50 millió tonnás nagyságrendben mozog. Egy 3–4 éves telefonban ott a kameramodul, a hardveres H.264 enkóder, a Wi-Fi rádió és az akkumulátor — jellemzően nem meghibásodás miatt cserélik 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79208" y="1435608"/>
            <a:ext cx="4154119" cy="2788920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645920"/>
            <a:ext cx="3605479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3013"/>
                </a:solidFill>
                <a:latin typeface="Inter"/>
              </a:rPr>
              <a:t>A CÉL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6110F"/>
                </a:solidFill>
                <a:latin typeface="Inter"/>
              </a:rPr>
              <a:t>Felhőfüggetlen, kizárólag helyi hálózaton működő, mesterséges intelligenciával támogatott kamerarendszer, amely újrahasznosított Android telefonokat integrál — dedikált kamerahardver nélkül.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6B625E"/>
                </a:solidFill>
                <a:latin typeface="Inter"/>
              </a:rPr>
              <a:t>Internetkapcsolat nélkül is teljes értékű.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4498848"/>
            <a:ext cx="415411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3013"/>
                </a:solidFill>
                <a:latin typeface="Inter"/>
              </a:rPr>
              <a:t>HÁROM TERVEZÉSI KÉNYSZER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4828032"/>
            <a:ext cx="41541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>
                <a:solidFill>
                  <a:srgbClr val="16110F"/>
                </a:solidFill>
                <a:latin typeface="Inter"/>
              </a:rPr>
              <a:t>A node nem ONVIF-eszköz → egyedi ujjlenyomat-vizsgálat kell.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>
                <a:solidFill>
                  <a:srgbClr val="16110F"/>
                </a:solidFill>
                <a:latin typeface="Inter"/>
              </a:rPr>
              <a:t>A node bármikor eltűnhet → minden komponensnek tűrnie kell a forrás hiányát.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>
                <a:solidFill>
                  <a:srgbClr val="16110F"/>
                </a:solidFill>
                <a:latin typeface="Inter"/>
              </a:rPr>
              <a:t>A detekció a limitáló tényező → minden felesleges kódolási lépés ki kell essen.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3.2.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A SwarmCam architektúrája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3</a:t>
            </a:r>
          </a:p>
        </p:txBody>
      </p:sp>
      <p:pic>
        <p:nvPicPr>
          <p:cNvPr id="7" name="Picture 6" descr="00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262" y="1481328"/>
            <a:ext cx="4073051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4968" y="1481328"/>
            <a:ext cx="3788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Kamera-node — </a:t>
            </a:r>
            <a:r>
              <a:rPr sz="1200">
                <a:solidFill>
                  <a:srgbClr val="6B625E"/>
                </a:solidFill>
                <a:latin typeface="Inter"/>
              </a:rPr>
              <a:t>Android IP Camera app: nyers H.264 folyam, JSON állapotleíró és távoli beállítás. Tetszőleges számú (1..*).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go2rtc → Frigate — </a:t>
            </a:r>
            <a:r>
              <a:rPr sz="1200">
                <a:solidFill>
                  <a:srgbClr val="6B625E"/>
                </a:solidFill>
                <a:latin typeface="Inter"/>
              </a:rPr>
              <a:t>a go2rtc veszi át a telefon folyamát és helyi RTSP-ként szolgálja ki újra; a Frigate ezt dekódolja, detektál és rögzít.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Mosquitto — </a:t>
            </a:r>
            <a:r>
              <a:rPr sz="1200">
                <a:solidFill>
                  <a:srgbClr val="6B625E"/>
                </a:solidFill>
                <a:latin typeface="Inter"/>
              </a:rPr>
              <a:t>két, egymást nem ismerő eseményforrás (Frigate, tűzdetektor) közös gyűjtőpontja.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FastAPI backend — </a:t>
            </a:r>
            <a:r>
              <a:rPr sz="1200">
                <a:solidFill>
                  <a:srgbClr val="6B625E"/>
                </a:solidFill>
                <a:latin typeface="Inter"/>
              </a:rPr>
              <a:t>állapotfigyelés, eseményátjátszás, élőkép-relay, Frigate-proxy.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React dashboard — </a:t>
            </a:r>
            <a:r>
              <a:rPr sz="1200">
                <a:solidFill>
                  <a:srgbClr val="6B625E"/>
                </a:solidFill>
                <a:latin typeface="Inter"/>
              </a:rPr>
              <a:t>egyoldalas felület, asztali és mobil elrendezéssel.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Tűzdetektor — </a:t>
            </a:r>
            <a:r>
              <a:rPr sz="1200">
                <a:solidFill>
                  <a:srgbClr val="6B625E"/>
                </a:solidFill>
                <a:latin typeface="Inter"/>
              </a:rPr>
              <a:t>a rétegsoron kívül: csak a brókerhez csatolódik.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5458967"/>
            <a:ext cx="3788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C3013"/>
                </a:solidFill>
                <a:latin typeface="Inter"/>
              </a:rPr>
              <a:t>Az 1. ábrán pirossal jelölt artefaktumok saját fejlesztésűek.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4. ÖSSZEGZÉS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Mi a saját munkám, és mi a készen kapott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6035040" cy="3794760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82496"/>
            <a:ext cx="5522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3013"/>
                </a:solidFill>
                <a:latin typeface="Inter"/>
              </a:rPr>
              <a:t>SAJÁT TERVEZÉS ÉS MEGVALÓSÍTÁS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48256"/>
            <a:ext cx="5522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hálózati felderítés és a hozzá tartozó ujjlenyomat-vizsgálat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FastAPI backend és valós idejű rétege — állapotfigyelő hurok, MQTT-átjátszás, WebSocket-elosztás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élőkép-architektúra a go2rtc MSE-relayjével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a kameraforgatás feldolgozási lánca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a tűz-/füstdetekciós mikroszolgáltatás teljes Python-pipeline-ja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React kezelőfelület, asztali és mobil elrendezéssel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a 3. fejezet tervezési döntései és a 3.6. szakasz mérési módszertana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481328"/>
            <a:ext cx="4474159" cy="379476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682496"/>
            <a:ext cx="3962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625E"/>
                </a:solidFill>
                <a:latin typeface="Inter"/>
              </a:rPr>
              <a:t>KÉSZEN KAPOTT KOMPONENSEK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048256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625E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Frigate NVR és a benne futó go2rtc</a:t>
            </a:r>
          </a:p>
          <a:p>
            <a:pPr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6B625E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Android IP Camera alkalmazás (F-Droid)</a:t>
            </a:r>
          </a:p>
          <a:p>
            <a:pPr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6B625E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Mosquitto MQTT bróker</a:t>
            </a:r>
          </a:p>
          <a:p>
            <a:pPr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6B625E"/>
                </a:solidFill>
                <a:latin typeface="Inter"/>
              </a:rPr>
              <a:t>— </a:t>
            </a:r>
            <a:r>
              <a:rPr sz="1300">
                <a:solidFill>
                  <a:srgbClr val="16110F"/>
                </a:solidFill>
                <a:latin typeface="Inter"/>
              </a:rPr>
              <a:t>előre betanított YOLO tűz-/füstmodell — ezt nem én tanítottam be, csak a saját pipeline-omba integráltam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5504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110F"/>
                </a:solidFill>
                <a:latin typeface="Inter"/>
              </a:rPr>
              <a:t>Saját detekciós motort tudatosan nem írtam: a valós idejű, többkamerás objektumdetekció — mozgásmaszkkal, objektumkövetéssel, hardveres gyorsítással — önmagában kitöltene egy szakdolgozatot, és gyengébb eredményt adna a meglévő nyílt forráskódú megoldásnál. A munka súlypontja a köré épített integrációs réteg.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TERVEZÉSI DÖNTÉS ① · 3.5.1.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Automatikus hálózati felderítés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Kétlépcsős ujjlenyomat. </a:t>
            </a:r>
            <a:r>
              <a:rPr sz="1300">
                <a:solidFill>
                  <a:srgbClr val="6B625E"/>
                </a:solidFill>
                <a:latin typeface="Inter"/>
              </a:rPr>
              <a:t>Előbb gyors TCP-portpásztázás a 4444-es porton, 128 párhuzamos szálon, 1 s időkorláttal — egy /24-es alhálózat 254 címe néhány másodperc. Utána HTTPS-en az /info.json leíró, és az ujjlenyomat a válasz szerkezete: az Android IP Camera mindig egyszerre adja vissza a cameras és a settings kulcsot.</a:t>
            </a:r>
          </a:p>
          <a:p>
            <a:pPr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Determinisztikus névadás. </a:t>
            </a:r>
            <a:r>
              <a:rPr sz="1300">
                <a:solidFill>
                  <a:srgbClr val="6B625E"/>
                </a:solidFill>
                <a:latin typeface="Inter"/>
              </a:rPr>
              <a:t>cam_ + az IP-cím, pontok helyett aláhúzással — cam_192_168_1_8. Ugyanaz a telefon újraindítás után is ugyanazt az azonosítót kapja, így a felvételei és beállításai nem szakadnak el tőle. Ez a névséma a teljes kameraprotokoll-cserét is túlélte, migráció nélkül.</a:t>
            </a:r>
          </a:p>
          <a:p>
            <a:pPr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Önálló szkript, SSE-vel. </a:t>
            </a:r>
            <a:r>
              <a:rPr sz="1300">
                <a:solidFill>
                  <a:srgbClr val="6B625E"/>
                </a:solidFill>
                <a:latin typeface="Inter"/>
              </a:rPr>
              <a:t>A backend külön folyamatként indítja: a több száz párhuzamos socket nem terheli az event loopot, a kimenete pedig Server-Sent Events csatornán élőben követhető.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81728"/>
            <a:ext cx="10874959" cy="1508760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864608"/>
            <a:ext cx="103263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EGY TANULSÁGOS HIBA</a:t>
            </a:r>
          </a:p>
          <a:p>
            <a:pPr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 i="0">
                <a:solidFill>
                  <a:srgbClr val="16110F"/>
                </a:solidFill>
                <a:latin typeface="Inter"/>
              </a:rPr>
              <a:t>A leíró auto vagy max kulcsszóval is megadhatja a folyam méretét. Az első megvalósítás ilyenkor a szenzor legnagyobb támogatott méretét vette — ám az a legnagyobb fényképméret, nem a videófolyamé. A szám a Frigate detekciós méretébe került, és mivel a Frigate a mozgásdetektálást teljes detekciós felbontáson végzi, egyetlen kamera közel 300% processzoridőt evett. A javítás: bizonytalan méret esetén nem írunk detekciós méretet.</a:t>
            </a:r>
          </a:p>
        </p:txBody>
      </p:sp>
      <p:pic>
        <p:nvPicPr>
          <p:cNvPr id="10" name="Picture 9" descr="11-discovery-sc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761120"/>
            <a:ext cx="4062679" cy="2412215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TERVEZÉSI DÖNTÉS ② · 3.5.3. + 3.6.5.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Élőkép: MJPEG-proxytól a go2rtc MSE-ig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6537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Az első megoldás </a:t>
            </a:r>
            <a:r>
              <a:rPr sz="1300">
                <a:solidFill>
                  <a:srgbClr val="6B625E"/>
                </a:solidFill>
                <a:latin typeface="Inter"/>
              </a:rPr>
              <a:t>a Frigate hibakeresési MJPEG-folyamát proxyzta. Működött, de három szerkezeti baja volt: a detekciós képkockákat kódolta JPEG-be (640×360, 5 fps), nézőnként külön processzorterhelést jelentett, és összecsatolta az élőkép minőségét a detekció beállításaival.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 mostani megoldás </a:t>
            </a:r>
            <a:r>
              <a:rPr sz="1300">
                <a:solidFill>
                  <a:srgbClr val="6B625E"/>
                </a:solidFill>
                <a:latin typeface="Inter"/>
              </a:rPr>
              <a:t>a go2rtc MSE-csatornája: a telefon H.264 folyamát fMP4 szegmensekké csomagolja át — újrakódolás nélkül —, és WebSocketen adja. A backend ezt játssza át; a böngésző a natív H.264 dekóderével jeleníti meg.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 relay szándékosan minimális: </a:t>
            </a:r>
            <a:r>
              <a:rPr sz="1300">
                <a:solidFill>
                  <a:srgbClr val="6B625E"/>
                </a:solidFill>
                <a:latin typeface="Inter"/>
              </a:rPr>
              <a:t>két, egymással szemben futó továbbító feladat. Az élőkép-útvonalon a backend egyetlen videóműveletet sem végez — nincs dekódolás, átkódolás és pufferelés.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6537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11. TÁBLÁZAT — EGY NÉZŐ, UGYANAZ A RENDSZER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590288"/>
            <a:ext cx="6537960" cy="265176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4590288"/>
            <a:ext cx="258135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10F"/>
                </a:solidFill>
                <a:latin typeface="Inter"/>
              </a:rPr>
              <a:t>Szempont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6607" y="4590288"/>
            <a:ext cx="16660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10F"/>
                </a:solidFill>
                <a:latin typeface="Inter"/>
              </a:rPr>
              <a:t>MJPEG-proxy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7235" y="4590288"/>
            <a:ext cx="17967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10F"/>
                </a:solidFill>
                <a:latin typeface="Inter"/>
              </a:rPr>
              <a:t>go2rtc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855464"/>
            <a:ext cx="258135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Megjelenített felbontás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607" y="4855464"/>
            <a:ext cx="16660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640×360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7235" y="4855464"/>
            <a:ext cx="17967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1280×720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20640"/>
            <a:ext cx="6537960" cy="265176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5120640"/>
            <a:ext cx="258135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Képfrissítés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6607" y="5120640"/>
            <a:ext cx="16660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3,5 kép/s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7235" y="5120640"/>
            <a:ext cx="17967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a telefon natív fps-e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5385816"/>
            <a:ext cx="258135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Frigate CPU / néző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6607" y="5385816"/>
            <a:ext cx="16660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+26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7235" y="5385816"/>
            <a:ext cx="17967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+2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650992"/>
            <a:ext cx="6537960" cy="265176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5650992"/>
            <a:ext cx="258135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Késleltetés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6607" y="5650992"/>
            <a:ext cx="16660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nem mérve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7235" y="5650992"/>
            <a:ext cx="17967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0,03–0,07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5916168"/>
            <a:ext cx="258135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Szerveroldali újrakódolás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6607" y="5916168"/>
            <a:ext cx="16660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JPEG nézőnként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7235" y="5916168"/>
            <a:ext cx="17967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nincs</a:t>
            </a:r>
          </a:p>
        </p:txBody>
      </p:sp>
      <p:pic>
        <p:nvPicPr>
          <p:cNvPr id="30" name="Picture 29" descr="02-cameras-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2437633"/>
            <a:ext cx="4016959" cy="2385069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TERVEZÉSI DÖNTÉS ③ · 3.3. + 3.6.4.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Push, nem lekérdezés: MQTT → WebSocket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C3013"/>
                </a:solidFill>
                <a:latin typeface="Inter"/>
              </a:rPr>
              <a:t>— </a:t>
            </a:r>
            <a:r>
              <a:rPr sz="1450" b="1">
                <a:solidFill>
                  <a:srgbClr val="16110F"/>
                </a:solidFill>
                <a:latin typeface="Inter"/>
              </a:rPr>
              <a:t>Minden csatorna arra a feladatra került, amelyre való. </a:t>
            </a:r>
            <a:r>
              <a:rPr sz="1450">
                <a:solidFill>
                  <a:srgbClr val="6B625E"/>
                </a:solidFill>
                <a:latin typeface="Inter"/>
              </a:rPr>
              <a:t>REST ott, ahol a kliens tudja, mikor van szüksége az adatra — kameralista, események, felvételek. WebSocket ott, ahol a szerver kezdeményez: kamerastátusz, detektált események, riasztások, mindez egyetlen tartós kapcsolaton.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450" b="1">
                <a:solidFill>
                  <a:srgbClr val="EC3013"/>
                </a:solidFill>
                <a:latin typeface="Inter"/>
              </a:rPr>
              <a:t>— </a:t>
            </a:r>
            <a:r>
              <a:rPr sz="1450" b="1">
                <a:solidFill>
                  <a:srgbClr val="16110F"/>
                </a:solidFill>
                <a:latin typeface="Inter"/>
              </a:rPr>
              <a:t>A mérés szándékosan szintetikus eseményekkel dolgozik. </a:t>
            </a:r>
            <a:r>
              <a:rPr sz="1450">
                <a:solidFill>
                  <a:srgbClr val="6B625E"/>
                </a:solidFill>
                <a:latin typeface="Inter"/>
              </a:rPr>
              <a:t>A Frigate üzenetformátumával megegyező eseményeket publikáltam a brókerre, így a mért érték kizárólag a rendszer saját átjátszási láncát jellemzi — bróker, backend, WebSocket-továbbítás —, és nem tartalmazza a Frigate detektálási idejét. Azt a 3.6.3. szakasz méri külön.</a:t>
            </a:r>
          </a:p>
          <a:p>
            <a:pPr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450" b="1">
                <a:solidFill>
                  <a:srgbClr val="EC3013"/>
                </a:solidFill>
                <a:latin typeface="Inter"/>
              </a:rPr>
              <a:t>— </a:t>
            </a:r>
            <a:r>
              <a:rPr sz="1450" b="1">
                <a:solidFill>
                  <a:srgbClr val="16110F"/>
                </a:solidFill>
                <a:latin typeface="Inter"/>
              </a:rPr>
              <a:t>Az alternatíva mérlege. </a:t>
            </a:r>
            <a:r>
              <a:rPr sz="1450">
                <a:solidFill>
                  <a:srgbClr val="6B625E"/>
                </a:solidFill>
                <a:latin typeface="Inter"/>
              </a:rPr>
              <a:t>Egy másodperces periódusú lekérdezés ugyanezt átlagosan félmásodpercre növelte volna, ráadásul üresjárati terhelés árán. A mért nagyságrend a felületen érzékelhetetlen.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407408"/>
            <a:ext cx="2526715" cy="96012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219753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C3013"/>
                </a:solidFill>
                <a:latin typeface="Inter"/>
              </a:rPr>
              <a:t>0,7 ms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6B625E"/>
                </a:solidFill>
                <a:latin typeface="Inter"/>
              </a:rPr>
              <a:t>átlagos átjátszási késleltetés
MQTT-tól a böngészőig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1115" y="4407408"/>
            <a:ext cx="2526715" cy="96012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707" y="4526280"/>
            <a:ext cx="219753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C3013"/>
                </a:solidFill>
                <a:latin typeface="Inter"/>
              </a:rPr>
              <a:t>1,2 ms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6B625E"/>
                </a:solidFill>
                <a:latin typeface="Inter"/>
              </a:rPr>
              <a:t>95. percentilis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3862" y="4407408"/>
            <a:ext cx="2526715" cy="96012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4" y="4526280"/>
            <a:ext cx="219753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C3013"/>
                </a:solidFill>
                <a:latin typeface="Inter"/>
              </a:rPr>
              <a:t>29 / 30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6B625E"/>
                </a:solidFill>
                <a:latin typeface="Inter"/>
              </a:rPr>
              <a:t>illesztett eseménypár
120 s mérés alatt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609" y="4407408"/>
            <a:ext cx="2526715" cy="96012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201" y="4526280"/>
            <a:ext cx="219753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C3013"/>
                </a:solidFill>
                <a:latin typeface="Inter"/>
              </a:rPr>
              <a:t>1 db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6B625E"/>
                </a:solidFill>
                <a:latin typeface="Inter"/>
              </a:rPr>
              <a:t>illesztetlen esemény —
a mérési ablak határán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TERVEZÉSI DÖNTÉS ④ · 3.5.6.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Tűz- és füstérzékelés külön mikroszolgáltatásként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C3013"/>
                </a:solidFill>
                <a:latin typeface="Inter"/>
              </a:rPr>
              <a:t>— </a:t>
            </a:r>
            <a:r>
              <a:rPr sz="1350" b="1">
                <a:solidFill>
                  <a:srgbClr val="16110F"/>
                </a:solidFill>
                <a:latin typeface="Inter"/>
              </a:rPr>
              <a:t>A feladatkiírás előírta </a:t>
            </a:r>
            <a:r>
              <a:rPr sz="1350">
                <a:solidFill>
                  <a:srgbClr val="6B625E"/>
                </a:solidFill>
                <a:latin typeface="Inter"/>
              </a:rPr>
              <a:t>a rendszer kiegészítését egy olyan eseményosztállyal, amelyet az alapul szolgáló NVR általános detektora nem támogat. A tűz és a füst a Frigate COCO-80 címkekészletében nem szerepel.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350" b="1">
                <a:solidFill>
                  <a:srgbClr val="EC3013"/>
                </a:solidFill>
                <a:latin typeface="Inter"/>
              </a:rPr>
              <a:t>— </a:t>
            </a:r>
            <a:r>
              <a:rPr sz="1350" b="1">
                <a:solidFill>
                  <a:srgbClr val="16110F"/>
                </a:solidFill>
                <a:latin typeface="Inter"/>
              </a:rPr>
              <a:t>Miért nem a Frigate modelljének cseréje? </a:t>
            </a:r>
            <a:r>
              <a:rPr sz="1350">
                <a:solidFill>
                  <a:srgbClr val="6B625E"/>
                </a:solidFill>
                <a:latin typeface="Inter"/>
              </a:rPr>
              <a:t>A Frigate egyszerre egy modellt futtat, tehát a tűzfelismerő betöltése az általános objektumdetekció elvesztésével járna. Két feladat két modellt kíván; párhuzamos futtatásukra a külön folyamat a legegyszerűbb mód.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350" b="1">
                <a:solidFill>
                  <a:srgbClr val="EC3013"/>
                </a:solidFill>
                <a:latin typeface="Inter"/>
              </a:rPr>
              <a:t>— </a:t>
            </a:r>
            <a:r>
              <a:rPr sz="1350" b="1">
                <a:solidFill>
                  <a:srgbClr val="16110F"/>
                </a:solidFill>
                <a:latin typeface="Inter"/>
              </a:rPr>
              <a:t>A működés egy egyszerű ciklus. </a:t>
            </a:r>
            <a:r>
              <a:rPr sz="1350">
                <a:solidFill>
                  <a:srgbClr val="6B625E"/>
                </a:solidFill>
                <a:latin typeface="Inter"/>
              </a:rPr>
              <a:t>A szolgáltatás lekéri a kameralistát a backendtől, a telefon MJPEG-folyamából kiolvassa az első teljes JPEG-képkockát, és azon YOLO-modellt futtat a szerver GPU-ján. Kameránként 5 másodpercenként egy képkocka — rövid, ritka lökésekben terheli a GPU-t, így a Frigate detektorával érdemben nem versenyez.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350" b="1">
                <a:solidFill>
                  <a:srgbClr val="EC3013"/>
                </a:solidFill>
                <a:latin typeface="Inter"/>
              </a:rPr>
              <a:t>— </a:t>
            </a:r>
            <a:r>
              <a:rPr sz="1350" b="1">
                <a:solidFill>
                  <a:srgbClr val="16110F"/>
                </a:solidFill>
                <a:latin typeface="Inter"/>
              </a:rPr>
              <a:t>A bróker az egyetlen csatolási pontja. </a:t>
            </a:r>
            <a:r>
              <a:rPr sz="1350">
                <a:solidFill>
                  <a:srgbClr val="6B625E"/>
                </a:solidFill>
                <a:latin typeface="Inter"/>
              </a:rPr>
              <a:t>Nem hívja a backendet, nem ír közös adatbázisba, és a felület létezéséről sem tud — csak publikál a swarmcam/fire/&lt;kamera&gt; témára. Ezért a Frigate leállása mellett is működik.</a:t>
            </a:r>
          </a:p>
        </p:txBody>
      </p:sp>
      <p:pic>
        <p:nvPicPr>
          <p:cNvPr id="8" name="Picture 7" descr="09-fire-event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2295473"/>
            <a:ext cx="3879799" cy="2303630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3.6.1.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Hogyan mértem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A nehézség. </a:t>
            </a:r>
            <a:r>
              <a:rPr sz="1400">
                <a:solidFill>
                  <a:srgbClr val="6B625E"/>
                </a:solidFill>
                <a:latin typeface="Inter"/>
              </a:rPr>
              <a:t>A kameraszám és a detektor összehasonlító méréséhez minden mérési pontban azonos bemenet kell, különben a pontok különbsége nem a vizsgált változóból ered. Élő telefonokkal ez nem biztosítható: a jelenet, a megvilágítás és így a képsebesség percről percre változik.</a:t>
            </a:r>
          </a:p>
          <a:p>
            <a:pPr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A megoldás. </a:t>
            </a:r>
            <a:r>
              <a:rPr sz="1400">
                <a:solidFill>
                  <a:srgbClr val="6B625E"/>
                </a:solidFill>
                <a:latin typeface="Inter"/>
              </a:rPr>
              <a:t>A bemenet egy korábban, ugyanezekről a telefonokról rögzített, valós H.264 felvétel — 1280×720, 10 kép/s —, amelyet a Frigate minden mérési pontban ugyanúgy, N különálló kameraként dolgoz fel.</a:t>
            </a:r>
          </a:p>
          <a:p>
            <a:pPr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A mérőszkript. </a:t>
            </a:r>
            <a:r>
              <a:rPr sz="1400">
                <a:solidFill>
                  <a:srgbClr val="6B625E"/>
                </a:solidFill>
                <a:latin typeface="Inter"/>
              </a:rPr>
              <a:t>Mérési pontonként 60 másodpercen át, 2 másodpercenként mintavételezi a konténerek erőforrás-használatát; a pontok között a rendszer 60 másodpercet stabilizálódik.</a:t>
            </a:r>
          </a:p>
          <a:p>
            <a:pPr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A haszon. </a:t>
            </a:r>
            <a:r>
              <a:rPr sz="1400">
                <a:solidFill>
                  <a:srgbClr val="6B625E"/>
                </a:solidFill>
                <a:latin typeface="Inter"/>
              </a:rPr>
              <a:t>Minden mérési pont pontosan azonos bemenetet kap, a mérés pedig bármikor megismételhető — éjjel-nappal, a telefonok állapotától függetlenül.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8" y="1481328"/>
            <a:ext cx="3651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7. TÁBLÁZAT — A MÉRÉSI KÖRNYEZET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2128" y="1773936"/>
            <a:ext cx="3651199" cy="301752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64424" y="1773936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10F"/>
                </a:solidFill>
                <a:latin typeface="Inter"/>
              </a:rPr>
              <a:t>Elem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5756" y="1773936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10F"/>
                </a:solidFill>
                <a:latin typeface="Inter"/>
              </a:rPr>
              <a:t>Érték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4424" y="2075688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Processzor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5756" y="2075688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Ryzen 9 5900HX, 8/16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8" y="2377440"/>
            <a:ext cx="3651199" cy="301752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64424" y="2377440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Memória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5756" y="2377440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15 GiB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2679192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5756" y="2679192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RTX 3060 Laptop, 6 GiB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2980944"/>
            <a:ext cx="3651199" cy="301752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4" y="2980944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5756" y="2980944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Ubuntu 24.04.3 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4424" y="3282696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Konténer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5756" y="3282696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Docker 28.5.2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8" y="3584448"/>
            <a:ext cx="3651199" cy="301752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4424" y="3584448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Frigate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5756" y="3584448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0.17.2 stable-tensorrt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3886200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Detektor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5756" y="3886200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ONNX Runtime, yolo-generic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8" y="4187952"/>
            <a:ext cx="3651199" cy="301752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4" y="4187952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Bemenet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5756" y="4187952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320×320, COCO-80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4489704"/>
            <a:ext cx="13567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10F"/>
                </a:solidFill>
                <a:latin typeface="Inter"/>
              </a:rPr>
              <a:t>Kamera-node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5756" y="4489704"/>
            <a:ext cx="19652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25E"/>
                </a:solidFill>
                <a:latin typeface="Inter"/>
              </a:rPr>
              <a:t>1280×720 H.264, HTTPS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5047488"/>
            <a:ext cx="3651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Az egyetlen eltérés az éles üzemtől, hogy itt a Frigate közvetlenül olvassa a felvételt, a go2rtc újracsomagoló lépése nélkül. A go2rtc nem kódol újra, csak konténerformátumot vált — a hozzájárulása kicsi és állandó.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MÉRÉS ① · 3.6.2.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Erőforrás-használat a kameraszám függvényében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10</a:t>
            </a:r>
          </a:p>
        </p:txBody>
      </p:sp>
      <p:pic>
        <p:nvPicPr>
          <p:cNvPr id="7" name="Picture 6" descr="18-resources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32304"/>
            <a:ext cx="6035040" cy="2212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13448" y="1481328"/>
            <a:ext cx="4519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Az alapterhelés elhanyagolható. </a:t>
            </a:r>
            <a:r>
              <a:rPr sz="1300">
                <a:solidFill>
                  <a:srgbClr val="6B625E"/>
                </a:solidFill>
                <a:latin typeface="Inter"/>
              </a:rPr>
              <a:t>Kamerák nélkül a Frigate processzorhasználata 1% alatt marad; ami mérhető, az szinte teljes egészében memória — a betöltött modell és a futtatókörnyezet önmagában 851 MiB.</a:t>
            </a:r>
          </a:p>
          <a:p>
            <a:pPr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 processzorterhelés lineárisan nő. </a:t>
            </a:r>
            <a:r>
              <a:rPr sz="1300">
                <a:solidFill>
                  <a:srgbClr val="6B625E"/>
                </a:solidFill>
                <a:latin typeface="Inter"/>
              </a:rPr>
              <a:t>11,4% → 20,0% → 32,4% → 43,5%; a növekmény kameránként ~10,6 százalékpont. A rendszer erőforrásigénye tehát előre becsülhető, és a mérési tartományban nincs torlódást okozó közös erőforrás.</a:t>
            </a:r>
          </a:p>
          <a:p>
            <a:pPr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 többi konténer független a kameraszámtól. </a:t>
            </a:r>
            <a:r>
              <a:rPr sz="1300">
                <a:solidFill>
                  <a:srgbClr val="6B625E"/>
                </a:solidFill>
                <a:latin typeface="Inter"/>
              </a:rPr>
              <a:t>A backend minden mérési pontban 1% CPU alatt marad, 48–52 MiB memóriával. Az erőforrásigény egyetlen komponensen, a videófeldolgozáson múlik.</a:t>
            </a:r>
          </a:p>
          <a:p>
            <a:pPr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Mérlegben. </a:t>
            </a:r>
            <a:r>
              <a:rPr sz="1300">
                <a:solidFill>
                  <a:srgbClr val="6B625E"/>
                </a:solidFill>
                <a:latin typeface="Inter"/>
              </a:rPr>
              <a:t>A 43,5% a docker stats konvenciója szerint egy magra vonatkozik — négy kamera a 16 szálas gép kapacitásának 2,7%-a. A szűk keresztmetszet nem a processzor, hanem a detektor átbocsátóképessége és a lemez írási sávszélessége.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MÉRÉS ② · 3.6.3.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Detektálási sebesség: GPU-gyorsítás és processzor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3454298" cy="1207008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3125114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C3013"/>
                </a:solidFill>
                <a:latin typeface="Inter"/>
              </a:rPr>
              <a:t>43,12 ms → 5,54 ms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6B625E"/>
                </a:solidFill>
                <a:latin typeface="Inter"/>
              </a:rPr>
              <a:t>következtetési idő képkockánként, azonos modellel
és azonos bemenettel — 7,8× gyorsulás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1481328"/>
            <a:ext cx="3454298" cy="1207008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290" y="1600200"/>
            <a:ext cx="3125114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C3013"/>
                </a:solidFill>
                <a:latin typeface="Inter"/>
              </a:rPr>
              <a:t>23,2 → 180,5 det/s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6B625E"/>
                </a:solidFill>
                <a:latin typeface="Inter"/>
              </a:rPr>
              <a:t>elméleti detekciós felső korlát:
a detektor egyetlen, sorosított erőforrás (1000/n)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9028" y="1481328"/>
            <a:ext cx="3454298" cy="1207008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3620" y="1600200"/>
            <a:ext cx="3125114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C3013"/>
                </a:solidFill>
                <a:latin typeface="Inter"/>
              </a:rPr>
              <a:t>14,07 vs 15,68 kép/s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6B625E"/>
                </a:solidFill>
                <a:latin typeface="Inter"/>
              </a:rPr>
              <a:t>3 kamera × 5 fps = 15 det/s igény —
a processzoros futtatás épp itt telítődik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62656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 processzoros futtatás nem használhatatlan — </a:t>
            </a:r>
            <a:r>
              <a:rPr sz="1300">
                <a:solidFill>
                  <a:srgbClr val="6B625E"/>
                </a:solidFill>
                <a:latin typeface="Inter"/>
              </a:rPr>
              <a:t>csak a kiszolgálható kameraszámot korlátozza. A mért értékekből a processzor 4–5 kameránál telítődne, míg a GPU ugyanezen a beállításon több mint harminc kamerát kiszolgálna.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 mérőgép processzora 16 szálas, tehát viszonylag erős. </a:t>
            </a:r>
            <a:r>
              <a:rPr sz="1300">
                <a:solidFill>
                  <a:srgbClr val="6B625E"/>
                </a:solidFill>
                <a:latin typeface="Inter"/>
              </a:rPr>
              <a:t>Egy tipikus, alacsony fogyasztású mini PC-n a processzoros érték lényegesen rosszabb lenne — ez a GPU, vagy alternatívaként egy Coral típusú célhardver melletti érvet tovább erősíti.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 mérést megismételtem </a:t>
            </a:r>
            <a:r>
              <a:rPr sz="1300">
                <a:solidFill>
                  <a:srgbClr val="6B625E"/>
                </a:solidFill>
                <a:latin typeface="Inter"/>
              </a:rPr>
              <a:t>egy másik felvételrészletből épített bemenettel: 7,4 vs 36,4 ms, azaz 4,9-szeres arány. Azon a bemeneten lényegesen kevesebb mozgás volt, a detektor nem telítődött, így a detektálásszám nem jellemezte a kapacitást. A táblázat ezért a telített futás adatait közli; mindkét futás nyers adata megtalálható az elektronikus mellékletben.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300" b="1">
                <a:solidFill>
                  <a:srgbClr val="EC3013"/>
                </a:solidFill>
                <a:latin typeface="Inter"/>
              </a:rPr>
              <a:t>— </a:t>
            </a:r>
            <a:r>
              <a:rPr sz="1300" b="1">
                <a:solidFill>
                  <a:srgbClr val="16110F"/>
                </a:solidFill>
                <a:latin typeface="Inter"/>
              </a:rPr>
              <a:t>A tisztaság feltétele. </a:t>
            </a:r>
            <a:r>
              <a:rPr sz="1300">
                <a:solidFill>
                  <a:srgbClr val="6B625E"/>
                </a:solidFill>
                <a:latin typeface="Inter"/>
              </a:rPr>
              <a:t>A két futtatás mindenben megegyezik — azonos modell, bemenet, kameraszám és detekciós felbontás —, kizárólag a detektor futtatási eszköze tér el. A mérés idejére a mozgásküszöb a lehető legalacsonyabbra került, hogy a detektor gyakorlatilag minden képkockán lefusson.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7900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3013"/>
                </a:solidFill>
                <a:latin typeface="Inter"/>
              </a:rPr>
              <a:t>Az alapértelmezett konfiguráció ennek ellenére szándékosan processzoros detektorral indul — az minden gépen működik. A GPU-gyorsítás a beállítások felületén, egyetlen legördülő menüből kapcsolható 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MÉRÉS ③ · 3.6.6.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A képsebesség fényfüggése — a telefonoldali korlát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12</a:t>
            </a:r>
          </a:p>
        </p:txBody>
      </p:sp>
      <p:pic>
        <p:nvPicPr>
          <p:cNvPr id="7" name="Picture 6" descr="17-fps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38" y="1481328"/>
            <a:ext cx="6253179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53528" y="1481328"/>
            <a:ext cx="3879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Nem a szerver, nem a hálózat és nem a beállított érték. </a:t>
            </a:r>
            <a:r>
              <a:rPr sz="1200">
                <a:solidFill>
                  <a:srgbClr val="6B625E"/>
                </a:solidFill>
                <a:latin typeface="Inter"/>
              </a:rPr>
              <a:t>Az élőkép képsebességét a kamera előtti megvilágítás szabja meg.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Az ok fizikai. </a:t>
            </a:r>
            <a:r>
              <a:rPr sz="1200">
                <a:solidFill>
                  <a:srgbClr val="6B625E"/>
                </a:solidFill>
                <a:latin typeface="Inter"/>
              </a:rPr>
              <a:t>Az Android automatikus expozíciója gyenge fényben megnöveli az expozíciós időt. Ha egy képkocka rögzítése 300 ms-ig tart, másodpercenként legfeljebb három képkocka állítható elő — függetlenül attól, mit kér a szerver.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Reprodukálható. </a:t>
            </a:r>
            <a:r>
              <a:rPr sz="1200">
                <a:solidFill>
                  <a:srgbClr val="6B625E"/>
                </a:solidFill>
                <a:latin typeface="Inter"/>
              </a:rPr>
              <a:t>Ugyanaz a node, változatlan jelenet és szerveroldali beállítások: sötétben 3,3 kép/s, a zseblámpa bekapcsolása után 11,3 kép/s.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A következtetés. </a:t>
            </a:r>
            <a:r>
              <a:rPr sz="1200">
                <a:solidFill>
                  <a:srgbClr val="6B625E"/>
                </a:solidFill>
                <a:latin typeface="Inter"/>
              </a:rPr>
              <a:t>Ez szerveroldalról nem kezelhető, mert a képkockák elő sem állnak. Aki telefonalapú kamerarendszert épít, annak a megvilágításról külön kell gondoskodnia — éjszakai üzemben ez a legfontosabb gyakorlati korlát.</a:t>
            </a:r>
          </a:p>
          <a:p>
            <a:pPr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C3013"/>
                </a:solidFill>
                <a:latin typeface="Inter"/>
              </a:rPr>
              <a:t>— </a:t>
            </a:r>
            <a:r>
              <a:rPr sz="1200" b="1">
                <a:solidFill>
                  <a:srgbClr val="16110F"/>
                </a:solidFill>
                <a:latin typeface="Inter"/>
              </a:rPr>
              <a:t>Ezért mutat a felület mért értéket, </a:t>
            </a:r>
            <a:r>
              <a:rPr sz="1200">
                <a:solidFill>
                  <a:srgbClr val="6B625E"/>
                </a:solidFill>
                <a:latin typeface="Inter"/>
              </a:rPr>
              <a:t>nem beállítottat: az 25 kép/s-ot sugallna, miközben három van.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MÉRÉS ④ · 3.6.7.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Megfigyelt hibamódok és a küszöbhangolás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① A node eltűnik a hálózatról. </a:t>
            </a:r>
            <a:r>
              <a:rPr sz="1400">
                <a:solidFill>
                  <a:srgbClr val="6B625E"/>
                </a:solidFill>
                <a:latin typeface="Inter"/>
              </a:rPr>
              <a:t>A rendszer szempontjából nem hiba, hanem üzemszerű állapot: az állapotfigyelő hurok néhány másodpercen belül észleli, a felület egyértelműen jelzi, a többi node zavartalanul működik tovább.</a:t>
            </a:r>
          </a:p>
          <a:p>
            <a:pPr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② A telefon videókódolója elakad. </a:t>
            </a:r>
            <a:r>
              <a:rPr sz="1400">
                <a:solidFill>
                  <a:srgbClr val="6B625E"/>
                </a:solidFill>
                <a:latin typeface="Inter"/>
              </a:rPr>
              <a:t>A készülék hálózatilag elérhető marad — az állapotleíró válaszol, a node „online” —, a H.264 végpont viszont üres választ ad. A jelenlegi állapotfigyelés ezt nem ismeri fel, mert az elérhetőséget az állapotleíróval méri, nem a videófolyammal; a felület közvetve mégis jelzi, mert a kártya képsebessége nullára esik. Ez a legfontosabb nyitott pont.</a:t>
            </a:r>
          </a:p>
          <a:p>
            <a:pPr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③ Téves tűzriasztás gyenge fényben. </a:t>
            </a:r>
            <a:r>
              <a:rPr sz="1400">
                <a:solidFill>
                  <a:srgbClr val="6B625E"/>
                </a:solidFill>
                <a:latin typeface="Inter"/>
              </a:rPr>
              <a:t>A modell éjszakai, erősen zajos képeken füstöt jelez ott, ahol nincs — a nagy erősítéssel készült kép szenzorzaja statisztikailag hasonlít arra, amit a modell füstként tanult meg.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270248"/>
            <a:ext cx="10874959" cy="2011680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471416"/>
            <a:ext cx="1032631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A KÜSZÖB HANGOLÁSA — MÉRÉSI TAPASZTALAT, NEM ALAPÉRTELMEZÉS</a:t>
            </a:r>
          </a:p>
          <a:p>
            <a:pPr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A detektor eseménynaplójában rögzített találatok átnézése azt mutatta, hogy az eredeti 50% és 80% közötti sávba eső detektálások lényegében kivétel nélkül tévesek voltak, míg a valódi lángra adott találatok pontszáma — a mért esetekben 82 és 86 százalék között — ezt a sávot meghaladta. A küszöb 80%-ra emelése után a téves éjszakai riasztások megszűntek, valódi találat elvesztése nélkül.</a:t>
            </a:r>
          </a:p>
          <a:p>
            <a:pPr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6B625E"/>
                </a:solidFill>
                <a:latin typeface="Inter"/>
              </a:rPr>
              <a:t>Ez a küszöb a jelen telepítés kameráira illeszkedik, általános érvényűnek nem tekinthető; a robusztusabb megoldás a képfényesség alapján váltó, külön éjszakai küszöb volna.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3.7. + 3.8. + 4.1.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Korlátok és a következő lépések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3013"/>
                </a:solidFill>
                <a:latin typeface="Inter"/>
              </a:rPr>
              <a:t>TUDATOSAN VÁLLALT KORLÁTOK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 b="1">
                <a:solidFill>
                  <a:srgbClr val="16110F"/>
                </a:solidFill>
                <a:latin typeface="Inter"/>
              </a:rPr>
              <a:t>Megbízható helyi hálózat. </a:t>
            </a:r>
            <a:r>
              <a:rPr sz="1250">
                <a:solidFill>
                  <a:srgbClr val="6B625E"/>
                </a:solidFill>
                <a:latin typeface="Inter"/>
              </a:rPr>
              <a:t>Névtelen MQTT, ellenőrzés nélkül elfogadott önaláírt tanúsítvány, host hálózati névtér, Docker-socket. Internet felőli kitettség esetén mindegyik önálló sebezhetőséggé válna — távoli eléréshez VPN a helyes megoldás, nem portátirányítás.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 b="1">
                <a:solidFill>
                  <a:srgbClr val="16110F"/>
                </a:solidFill>
                <a:latin typeface="Inter"/>
              </a:rPr>
              <a:t>Az állapot a memóriában él. </a:t>
            </a:r>
            <a:r>
              <a:rPr sz="1250">
                <a:solidFill>
                  <a:srgbClr val="6B625E"/>
                </a:solidFill>
                <a:latin typeface="Inter"/>
              </a:rPr>
              <a:t>A kameralista induláskor a Frigate konfigurációjából épül újra. Egy csomópontra és kis kameraszámra megfelelő, de kizárja a többcsomópontos üzemet.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 b="1">
                <a:solidFill>
                  <a:srgbClr val="16110F"/>
                </a:solidFill>
                <a:latin typeface="Inter"/>
              </a:rPr>
              <a:t>A node fekete doboz. </a:t>
            </a:r>
            <a:r>
              <a:rPr sz="1250">
                <a:solidFill>
                  <a:srgbClr val="6B625E"/>
                </a:solidFill>
                <a:latin typeface="Inter"/>
              </a:rPr>
              <a:t>A protokollcserével elveszett a töltési állapot jelzése, távoli újraindításra nincs mód. Nem megvalósítási hiba, hanem annak a döntésnek a következménye, hogy a node-oldalt készen kaptam.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 b="1">
                <a:solidFill>
                  <a:srgbClr val="16110F"/>
                </a:solidFill>
                <a:latin typeface="Inter"/>
              </a:rPr>
              <a:t>A tűzmodell nem saját betanítású. </a:t>
            </a:r>
            <a:r>
              <a:rPr sz="1250">
                <a:solidFill>
                  <a:srgbClr val="6B625E"/>
                </a:solidFill>
                <a:latin typeface="Inter"/>
              </a:rPr>
              <a:t>Nyilvánosan elérhető súlykészlet, tehát nem erre a telepítésre optimalizált.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1481328"/>
            <a:ext cx="4657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3013"/>
                </a:solidFill>
                <a:latin typeface="Inter"/>
              </a:rPr>
              <a:t>HA MA KEZDENÉM / KÖVETKEZŐ LÉPÉSEK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10512"/>
            <a:ext cx="4657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 b="1">
                <a:solidFill>
                  <a:srgbClr val="16110F"/>
                </a:solidFill>
                <a:latin typeface="Inter"/>
              </a:rPr>
              <a:t>Saját kamera-alkalmazás. </a:t>
            </a:r>
            <a:r>
              <a:rPr sz="1250">
                <a:solidFill>
                  <a:srgbClr val="6B625E"/>
                </a:solidFill>
                <a:latin typeface="Inter"/>
              </a:rPr>
              <a:t>Nyers H.264 helyett szabványos RTSP-kiszolgáló, helyes időbélyegekkel, és a forgatás már a kódolás előtt, a telefon oldalán. Ezzel a szerveroldali újrakódolás teljes problémaköre — a processzorköltség és az időbélyeg-vesztés — meg sem jelenne.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 b="1">
                <a:solidFill>
                  <a:srgbClr val="16110F"/>
                </a:solidFill>
                <a:latin typeface="Inter"/>
              </a:rPr>
              <a:t>A videófolyamot is figyelő health-check, </a:t>
            </a:r>
            <a:r>
              <a:rPr sz="1250">
                <a:solidFill>
                  <a:srgbClr val="6B625E"/>
                </a:solidFill>
                <a:latin typeface="Inter"/>
              </a:rPr>
              <a:t>hogy a beragadt kódoló ne mutatkozzon „online”-nak.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 b="1">
                <a:solidFill>
                  <a:srgbClr val="16110F"/>
                </a:solidFill>
                <a:latin typeface="Inter"/>
              </a:rPr>
              <a:t>Fényviszony-érzékeny tűzküszöb, </a:t>
            </a:r>
            <a:r>
              <a:rPr sz="1250">
                <a:solidFill>
                  <a:srgbClr val="6B625E"/>
                </a:solidFill>
                <a:latin typeface="Inter"/>
              </a:rPr>
              <a:t>illetve transfer learning saját gyűjtésű adathalmazon.</a:t>
            </a:r>
          </a:p>
          <a:p>
            <a:pPr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EC3013"/>
                </a:solidFill>
                <a:latin typeface="Inter"/>
              </a:rPr>
              <a:t>— </a:t>
            </a:r>
            <a:r>
              <a:rPr sz="1250" b="1">
                <a:solidFill>
                  <a:srgbClr val="16110F"/>
                </a:solidFill>
                <a:latin typeface="Inter"/>
              </a:rPr>
              <a:t>Coral TPU kiértékelése </a:t>
            </a:r>
            <a:r>
              <a:rPr sz="1250">
                <a:solidFill>
                  <a:srgbClr val="6B625E"/>
                </a:solidFill>
                <a:latin typeface="Inter"/>
              </a:rPr>
              <a:t>alacsonyabb fogyasztású telepítésekhez; ONVIF/PTZ kamerák bevonása; a telefon további szenzorai (mikrofon, gyorsulásmérő) mint új eseményforrás — az MQTT-alapú, szétcsatolt architektúra ezt átalakítás nélkül fogadni tudná.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4. FEJEZET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Összegzés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C3013"/>
                </a:solidFill>
                <a:latin typeface="Inter"/>
              </a:rPr>
              <a:t>— </a:t>
            </a:r>
            <a:r>
              <a:rPr sz="1450" b="1">
                <a:solidFill>
                  <a:srgbClr val="16110F"/>
                </a:solidFill>
                <a:latin typeface="Inter"/>
              </a:rPr>
              <a:t>A kitűzött részcélok megvalósultak: </a:t>
            </a:r>
            <a:r>
              <a:rPr sz="1450">
                <a:solidFill>
                  <a:srgbClr val="6B625E"/>
                </a:solidFill>
                <a:latin typeface="Inter"/>
              </a:rPr>
              <a:t>automatikus felderítés, felhőfüggetlen szerverkörnyezet, AI-alapú objektum- és tűz-/füstdetekció, valós idejű eseménykezelés és egységes kezelőfelület. A moduláris felépítés — különálló konténerek, jól definiált MQTT/WebSocket interfészek — lehetővé teszi az egyes komponensek önálló továbbfejlesztését.</a:t>
            </a:r>
          </a:p>
          <a:p>
            <a:pPr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450" b="1">
                <a:solidFill>
                  <a:srgbClr val="EC3013"/>
                </a:solidFill>
                <a:latin typeface="Inter"/>
              </a:rPr>
              <a:t>— </a:t>
            </a:r>
            <a:r>
              <a:rPr sz="1450" b="1">
                <a:solidFill>
                  <a:srgbClr val="16110F"/>
                </a:solidFill>
                <a:latin typeface="Inter"/>
              </a:rPr>
              <a:t>A felderítés azt a lépést váltja ki, </a:t>
            </a:r>
            <a:r>
              <a:rPr sz="1450">
                <a:solidFill>
                  <a:srgbClr val="6B625E"/>
                </a:solidFill>
                <a:latin typeface="Inter"/>
              </a:rPr>
              <a:t>amely a hagyományos NVR-eknél kameránként kézi munka. De ez nem konfigurációmentes üzem: a node-oldali beállítás — felbontás, képsebesség és különösen a tájolás — megmarad. A rendszer a kamerák bekötésének kézi konfigurációját szünteti meg, nem a telepítés egészét.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301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C3013"/>
                </a:solidFill>
                <a:latin typeface="Inter"/>
              </a:rPr>
              <a:t>HÁROM TANULSÁG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941064"/>
            <a:ext cx="3442106" cy="173736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087368"/>
            <a:ext cx="303977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A kész node fekete doboz marad.</a:t>
            </a:r>
          </a:p>
          <a:p>
            <a:pPr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6B625E"/>
                </a:solidFill>
                <a:latin typeface="Inter"/>
              </a:rPr>
              <a:t>Nem én döntöm el, milyen adat érhető el róla és milyen formában — ez nem hiba, hanem a „készen kapom” döntés ára.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4794" y="3941064"/>
            <a:ext cx="3442106" cy="173736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5962" y="4087368"/>
            <a:ext cx="303977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Minden újrakódoló réteg rejtett költséget hoz,</a:t>
            </a:r>
          </a:p>
          <a:p>
            <a:pPr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6B625E"/>
                </a:solidFill>
                <a:latin typeface="Inter"/>
              </a:rPr>
              <a:t>és nem ott, ahol keressük: a forgatás az időbélyegeken keresztül a detekciót állította le, miközben a felvétel zavartalanul készült.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1220" y="3941064"/>
            <a:ext cx="3442106" cy="173736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2388" y="4087368"/>
            <a:ext cx="303977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A mérés a tervezés része,</a:t>
            </a:r>
          </a:p>
          <a:p>
            <a:pPr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6B625E"/>
                </a:solidFill>
                <a:latin typeface="Inter"/>
              </a:rPr>
              <a:t>nem az utólagos igazolásé. Az élőkép cseréje, a detektor GPU-ra terelése és a tűzküszöb megválasztása szemre eldönthetetlen döntés volt.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925312"/>
            <a:ext cx="10874959" cy="658368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053328"/>
            <a:ext cx="103263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Köszönöm a figyelmet!        </a:t>
            </a:r>
            <a:r>
              <a:rPr sz="1500" b="0">
                <a:solidFill>
                  <a:srgbClr val="FFFFFF"/>
                </a:solidFill>
                <a:latin typeface="Inter"/>
              </a:rPr>
              <a:t>github.com/RiscyX/swarmcam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Tartalék diák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5097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1087495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6110F"/>
                </a:solidFill>
                <a:latin typeface="Inter"/>
              </a:rPr>
              <a:t>Tartalék diák</a:t>
            </a:r>
          </a:p>
          <a:p>
            <a: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 i="0">
                <a:solidFill>
                  <a:srgbClr val="6B625E"/>
                </a:solidFill>
                <a:latin typeface="Inter"/>
              </a:rPr>
              <a:t>a bizottság kérdéseihez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Tartalék · Kezelőfelület — asztali elrendezés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5097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17</a:t>
            </a:r>
          </a:p>
        </p:txBody>
      </p:sp>
      <p:pic>
        <p:nvPicPr>
          <p:cNvPr id="6" name="Picture 5" descr="02-cameras-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42533"/>
            <a:ext cx="3442106" cy="2043750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" y="5184648"/>
            <a:ext cx="344210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Rácsnézet — élőkép MSE-n, node-onkénti mért fps, akku és Wi-Fi</a:t>
            </a:r>
          </a:p>
        </p:txBody>
      </p:sp>
      <p:pic>
        <p:nvPicPr>
          <p:cNvPr id="8" name="Picture 7" descr="05-cameras-focu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794" y="2242533"/>
            <a:ext cx="3442106" cy="2043750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374794" y="5184648"/>
            <a:ext cx="344210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Fókusz elrendezés — egy kamera nagyban, a többi az alsó sávban</a:t>
            </a:r>
          </a:p>
        </p:txBody>
      </p:sp>
      <p:pic>
        <p:nvPicPr>
          <p:cNvPr id="10" name="Picture 9" descr="08-even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220" y="2242533"/>
            <a:ext cx="3442106" cy="2043750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091220" y="5184648"/>
            <a:ext cx="344210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Eseményböngésző — a Frigate detektált eseményei, klippel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Tartalék · Kezelőfelület — mobil elrendezés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5097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18</a:t>
            </a:r>
          </a:p>
        </p:txBody>
      </p:sp>
      <p:pic>
        <p:nvPicPr>
          <p:cNvPr id="6" name="Picture 5" descr="20-mobile-camer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39" y="1481328"/>
            <a:ext cx="1563363" cy="3383280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" y="5001768"/>
            <a:ext cx="344210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Kamerarács — az oldalsáv helyét rögzített fejléc és alsó fülsáv veszi át</a:t>
            </a:r>
          </a:p>
        </p:txBody>
      </p:sp>
      <p:pic>
        <p:nvPicPr>
          <p:cNvPr id="8" name="Picture 7" descr="21-mobile-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165" y="1481328"/>
            <a:ext cx="1563363" cy="3383280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374794" y="5001768"/>
            <a:ext cx="344210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Az asztali táblázat kártyás nézetté alakul</a:t>
            </a:r>
          </a:p>
        </p:txBody>
      </p:sp>
      <p:pic>
        <p:nvPicPr>
          <p:cNvPr id="10" name="Picture 9" descr="22-mobile-m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220" y="2038838"/>
            <a:ext cx="3442106" cy="2268259"/>
          </a:xfrm>
          <a:prstGeom prst="rect">
            <a:avLst/>
          </a:prstGeom>
          <a:ln w="9525">
            <a:solidFill>
              <a:srgbClr val="E3DD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091220" y="5001768"/>
            <a:ext cx="344210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A fülsávba nem férő nézetek alulról felcsúszó lapon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Tartalék · 8. táblázat — erőforrás-használat kameraszámonként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5097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874959" cy="384048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81328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Kameraszám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8773" y="148132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142" y="148132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7511" y="148132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6880" y="148132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6249" y="148132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10F"/>
                </a:solidFill>
                <a:latin typeface="Inter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65376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frigate — CPU 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773" y="186537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8142" y="186537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11,4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7511" y="186537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20,0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6880" y="186537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32,4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6249" y="186537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43,5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249424"/>
            <a:ext cx="10874959" cy="384048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2249424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frigate — memória (MiB)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773" y="224942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851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8142" y="224942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1414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511" y="224942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1521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6880" y="224942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1632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6249" y="224942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1725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2633472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backend — CPU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773" y="263347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8142" y="263347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511" y="263347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6880" y="263347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6249" y="263347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017520"/>
            <a:ext cx="10874959" cy="384048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" y="3017520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backend — memória (MiB)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773" y="3017520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8142" y="3017520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7511" y="3017520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6880" y="3017520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6249" y="3017520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" y="3401568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fire-detector — CPU (%)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773" y="340156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8142" y="340156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7511" y="340156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6880" y="340156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6249" y="3401568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0,32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85616"/>
            <a:ext cx="10874959" cy="384048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785616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fire-detector — memória (MiB)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773" y="378561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8142" y="378561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37511" y="378561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6880" y="378561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131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6249" y="3785616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131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" y="4169664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mosquitto — CPU (%)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8773" y="416966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8142" y="416966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37511" y="416966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96880" y="416966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56249" y="4169664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553712"/>
            <a:ext cx="10874959" cy="384048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" y="4553712"/>
            <a:ext cx="39135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dashboard — CPU (%)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18773" y="455371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8142" y="455371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37511" y="455371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96880" y="455371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6249" y="4553712"/>
            <a:ext cx="11947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25E"/>
                </a:solidFill>
                <a:latin typeface="Inter"/>
              </a:rPr>
              <a:t>0,01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5230367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25E"/>
                </a:solidFill>
                <a:latin typeface="Inter"/>
              </a:rPr>
              <a:t>60 másodperc alatt, 2 másodpercenként vett minták átlaga. A docker stats konvenciója szerint a százalék egyetlen processzormaghoz viszonyul.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Tartalék · 9. táblázat — a detektor következtetési ideje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5097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874959" cy="438912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81328"/>
            <a:ext cx="56612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10F"/>
                </a:solidFill>
                <a:latin typeface="Inter"/>
              </a:rPr>
              <a:t>Mutató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6534" y="1481328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10F"/>
                </a:solidFill>
                <a:latin typeface="Inter"/>
              </a:rPr>
              <a:t>GPU (ONNX, CUDA)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1078" y="1481328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10F"/>
                </a:solidFill>
                <a:latin typeface="Inter"/>
              </a:rPr>
              <a:t>Processzor (ONNX, 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920240"/>
            <a:ext cx="56612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110F"/>
                </a:solidFill>
                <a:latin typeface="Inter"/>
              </a:rPr>
              <a:t>Következtetési idő képkockánként (ms)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6534" y="1920240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25E"/>
                </a:solidFill>
                <a:latin typeface="Inter"/>
              </a:rPr>
              <a:t>5,54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1078" y="1920240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25E"/>
                </a:solidFill>
                <a:latin typeface="Inter"/>
              </a:rPr>
              <a:t>43,12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59152"/>
            <a:ext cx="10874959" cy="438912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59152"/>
            <a:ext cx="56612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110F"/>
                </a:solidFill>
                <a:latin typeface="Inter"/>
              </a:rPr>
              <a:t>Legnagyobb mért következtetési idő (ms)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6534" y="2359152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25E"/>
                </a:solidFill>
                <a:latin typeface="Inter"/>
              </a:rPr>
              <a:t>5,57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1078" y="2359152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25E"/>
                </a:solidFill>
                <a:latin typeface="Inter"/>
              </a:rPr>
              <a:t>47,07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798064"/>
            <a:ext cx="56612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110F"/>
                </a:solidFill>
                <a:latin typeface="Inter"/>
              </a:rPr>
              <a:t>Összesített detekciós képsebesség (kép/s)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6534" y="2798064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25E"/>
                </a:solidFill>
                <a:latin typeface="Inter"/>
              </a:rPr>
              <a:t>15,68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1078" y="2798064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25E"/>
                </a:solidFill>
                <a:latin typeface="Inter"/>
              </a:rPr>
              <a:t>14,07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236976"/>
            <a:ext cx="10874959" cy="438912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236976"/>
            <a:ext cx="56612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110F"/>
                </a:solidFill>
                <a:latin typeface="Inter"/>
              </a:rPr>
              <a:t>Elméleti detekciós felső korlát (kép/s)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6534" y="3236976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25E"/>
                </a:solidFill>
                <a:latin typeface="Inter"/>
              </a:rPr>
              <a:t>180,5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1078" y="3236976"/>
            <a:ext cx="23599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25E"/>
                </a:solidFill>
                <a:latin typeface="Inter"/>
              </a:rPr>
              <a:t>23,2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950208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10F"/>
                </a:solidFill>
                <a:latin typeface="Inter"/>
              </a:rPr>
              <a:t>Azonos modell, azonos bemenet, 3 kamera, telített detektor. A megismételt mérés (másik felvételrészlet): GPU 7,4 ms, processzor 36,4 ms — 4,9-szeres arány, mert azon a bemeneten a detektor nem telítődött, így a detektálásszám nem jellemezte a kapacitást.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Tartalék · 4. táblázat — a kommunikációs csatornák és indoklásuk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5097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874959" cy="713232"/>
          </a:xfrm>
          <a:prstGeom prst="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81328"/>
            <a:ext cx="153871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10F"/>
                </a:solidFill>
                <a:latin typeface="Inter"/>
              </a:rPr>
              <a:t>Csatorna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3970" y="1481328"/>
            <a:ext cx="2455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10F"/>
                </a:solidFill>
                <a:latin typeface="Inter"/>
              </a:rPr>
              <a:t>Szereplők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4442" y="1481328"/>
            <a:ext cx="2717927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10F"/>
                </a:solidFill>
                <a:latin typeface="Inter"/>
              </a:rPr>
              <a:t>Adat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6961" y="1481328"/>
            <a:ext cx="35040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10F"/>
                </a:solidFill>
                <a:latin typeface="Inter"/>
              </a:rPr>
              <a:t>A választás indoka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194560"/>
            <a:ext cx="153871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REST / 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3970" y="2194560"/>
            <a:ext cx="2455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frontend ↔ backend ↔ Frigate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4442" y="2194560"/>
            <a:ext cx="2717927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kameralista, események, felvételek, konfiguráció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961" y="2194560"/>
            <a:ext cx="35040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szinkron, állapotmentes erőforrás-hozzáférés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07792"/>
            <a:ext cx="10874959" cy="713232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907792"/>
            <a:ext cx="153871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WebSocket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3970" y="2907792"/>
            <a:ext cx="2455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backend →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4442" y="2907792"/>
            <a:ext cx="2717927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kamerastátusz, események, riasztások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961" y="2907792"/>
            <a:ext cx="35040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a szerver kezdeményez; egy tartós kapcsolat mindenre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3621024"/>
            <a:ext cx="153871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WebSocket (bináris)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3970" y="3621024"/>
            <a:ext cx="2455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go2rtc → backend → böngésző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4442" y="3621024"/>
            <a:ext cx="2717927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fMP4 videószegmensek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961" y="3621024"/>
            <a:ext cx="35040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a meglévő nginx- és hitelesítési útvonalon halad; nincs ICE és UDP-port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34256"/>
            <a:ext cx="10874959" cy="713232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4334256"/>
            <a:ext cx="153871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10F"/>
                </a:solidFill>
                <a:latin typeface="Inter"/>
              </a:rPr>
              <a:t>MQTT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3970" y="4334256"/>
            <a:ext cx="2455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Frigate és tűzdetektor → bróker →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4442" y="4334256"/>
            <a:ext cx="2717927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detekciós események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961" y="4334256"/>
            <a:ext cx="35040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25E"/>
                </a:solidFill>
                <a:latin typeface="Inter"/>
              </a:rPr>
              <a:t>szétcsatolt közzététel: a források nem ismerik egymást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3013"/>
                </a:solidFill>
                <a:latin typeface="Inter"/>
              </a:rPr>
              <a:t>3.5.9. SZAKASZ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110F"/>
                </a:solidFill>
                <a:latin typeface="Inter"/>
              </a:rPr>
              <a:t>Tartalék · Hitelesítés és a biztonsági modell határa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371600" cy="22860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3DDD9"/>
                </a:solidFill>
                <a:latin typeface="Inter"/>
              </a:rPr>
              <a:t>SwarmCam · Vass Richárd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25E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A hitelesítés a Frigate felhasználói adatbázisára épül. </a:t>
            </a:r>
            <a:r>
              <a:rPr sz="1400">
                <a:solidFill>
                  <a:srgbClr val="6B625E"/>
                </a:solidFill>
                <a:latin typeface="Inter"/>
              </a:rPr>
              <a:t>A backend továbbítja a bejelentkezési adatokat, és a kapott JWT-t adja vissza a felületnek; minden további kérés ezt hordozza.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A token kizárólag a React alkalmazás memóriájában él, </a:t>
            </a:r>
            <a:r>
              <a:rPr sz="1400">
                <a:solidFill>
                  <a:srgbClr val="6B625E"/>
                </a:solidFill>
                <a:latin typeface="Inter"/>
              </a:rPr>
              <a:t>nem a böngésző tartós tárolójában — az ugyanis minden, az oldalon futó szkript számára olvasható lenne, tehát egy sikeres szkriptbeillesztés azonnal átvehető munkamenetet adna. Ára, hogy a token az oldal újratöltésekor elvész; helyi adminisztrációs felületen ez elfogadható.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Két független munkamenet. </a:t>
            </a:r>
            <a:r>
              <a:rPr sz="1400">
                <a:solidFill>
                  <a:srgbClr val="6B625E"/>
                </a:solidFill>
                <a:latin typeface="Inter"/>
              </a:rPr>
              <a:t>A backend saját hitelesített munkamenetet is fenntart a Frigate felé, mert az állapotfigyelés, a statisztikák és a konfiguráció olvasása felhasználói beavatkozás nélkül, folyamatosan zajlik.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401 ≠ 503. </a:t>
            </a:r>
            <a:r>
              <a:rPr sz="1400">
                <a:solidFill>
                  <a:srgbClr val="6B625E"/>
                </a:solidFill>
                <a:latin typeface="Inter"/>
              </a:rPr>
              <a:t>A 401 — érvénytelen vagy lejárt token — kijelentkeztet; az 503 — a Frigate épp újraindul egy konfigurációmentés után — nem. A kettő összemosása azt jelentené, hogy minden konfigurációmentés kijelentkeztet.</a:t>
            </a:r>
          </a:p>
          <a:p>
            <a:pPr>
              <a:lnSpc>
                <a:spcPct val="122000"/>
              </a:lnSpc>
              <a:spcBef>
                <a:spcPts val="1100"/>
              </a:spcBef>
              <a:spcAft>
                <a:spcPts val="0"/>
              </a:spcAft>
            </a:pPr>
            <a:r>
              <a:rPr sz="1400" b="1">
                <a:solidFill>
                  <a:srgbClr val="EC3013"/>
                </a:solidFill>
                <a:latin typeface="Inter"/>
              </a:rPr>
              <a:t>— </a:t>
            </a:r>
            <a:r>
              <a:rPr sz="1400" b="1">
                <a:solidFill>
                  <a:srgbClr val="16110F"/>
                </a:solidFill>
                <a:latin typeface="Inter"/>
              </a:rPr>
              <a:t>A modell határa. </a:t>
            </a:r>
            <a:r>
              <a:rPr sz="1400">
                <a:solidFill>
                  <a:srgbClr val="6B625E"/>
                </a:solidFill>
                <a:latin typeface="Inter"/>
              </a:rPr>
              <a:t>A SwarmCam megbízható, helyi hálózatra készült. Az MQTT névtelen hozzáférést enged, az önaláírt tanúsítványt ellenőrzés nélkül elfogadjuk, a konténerek a gazdagép hálózati névterét használják, és a backend hozzáfér a Docker-sockethez. Internet felőli kitettség esetén mindegyik önálló sebezhetőség — a helyes megoldás VPN, nem portátirányítás.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